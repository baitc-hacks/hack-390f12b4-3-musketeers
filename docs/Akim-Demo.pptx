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70a042b904a4a" /><Relationship Type="http://schemas.openxmlformats.org/officeDocument/2006/relationships/extended-properties" Target="/docProps/app.xml" Id="Rda5075326f054a0e" /><Relationship Type="http://schemas.openxmlformats.org/officeDocument/2006/relationships/officeDocument" Target="/ppt/presentation.xml" Id="R93a535d3cedc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d8f0f22e064e21"/>
  </p:sldMasterIdLst>
  <p:notesMasterIdLst>
    <p:notesMasterId xmlns:r="http://schemas.openxmlformats.org/officeDocument/2006/relationships" r:id="R72fbdb07180b4fea"/>
  </p:notesMasterIdLst>
  <p:sldIdLst>
    <p:sldId xmlns:r="http://schemas.openxmlformats.org/officeDocument/2006/relationships" id="256" r:id="R52b091a27c3b416d"/>
    <p:sldId xmlns:r="http://schemas.openxmlformats.org/officeDocument/2006/relationships" id="257" r:id="Rc6ff44b98f824e46"/>
    <p:sldId xmlns:r="http://schemas.openxmlformats.org/officeDocument/2006/relationships" id="258" r:id="R2880403b21514774"/>
    <p:sldId xmlns:r="http://schemas.openxmlformats.org/officeDocument/2006/relationships" id="259" r:id="Rc52d9cb48f414dca"/>
    <p:sldId xmlns:r="http://schemas.openxmlformats.org/officeDocument/2006/relationships" id="260" r:id="R86eb5cb69e68463a"/>
    <p:sldId xmlns:r="http://schemas.openxmlformats.org/officeDocument/2006/relationships" id="261" r:id="Rf031f7c56b29432d"/>
    <p:sldId xmlns:r="http://schemas.openxmlformats.org/officeDocument/2006/relationships" id="262" r:id="Rdf266fec1f4646af"/>
    <p:sldId xmlns:r="http://schemas.openxmlformats.org/officeDocument/2006/relationships" id="263" r:id="R6ac2741be7eb4b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b8747d91664ab6" /><Relationship Type="http://schemas.openxmlformats.org/officeDocument/2006/relationships/slideMaster" Target="/ppt/slideMasters/slideMaster1.xml" Id="Re2d8f0f22e064e21" /><Relationship Type="http://schemas.openxmlformats.org/officeDocument/2006/relationships/notesMaster" Target="/ppt/notesMasters/notesMaster1.xml" Id="R72fbdb07180b4fea" /><Relationship Type="http://schemas.openxmlformats.org/officeDocument/2006/relationships/presProps" Target="/ppt/presProps.xml" Id="R60222a02302145a4" /><Relationship Type="http://schemas.openxmlformats.org/officeDocument/2006/relationships/tableStyles" Target="/ppt/tableStyles.xml" Id="R1b0b61e1a3154fdf" /><Relationship Type="http://schemas.openxmlformats.org/officeDocument/2006/relationships/slide" Target="/ppt/slides/slide1.xml" Id="R52b091a27c3b416d" /><Relationship Type="http://schemas.openxmlformats.org/officeDocument/2006/relationships/slide" Target="/ppt/slides/slide2.xml" Id="Rc6ff44b98f824e46" /><Relationship Type="http://schemas.openxmlformats.org/officeDocument/2006/relationships/slide" Target="/ppt/slides/slide3.xml" Id="R2880403b21514774" /><Relationship Type="http://schemas.openxmlformats.org/officeDocument/2006/relationships/slide" Target="/ppt/slides/slide4.xml" Id="Rc52d9cb48f414dca" /><Relationship Type="http://schemas.openxmlformats.org/officeDocument/2006/relationships/slide" Target="/ppt/slides/slide5.xml" Id="R86eb5cb69e68463a" /><Relationship Type="http://schemas.openxmlformats.org/officeDocument/2006/relationships/slide" Target="/ppt/slides/slide6.xml" Id="Rf031f7c56b29432d" /><Relationship Type="http://schemas.openxmlformats.org/officeDocument/2006/relationships/slide" Target="/ppt/slides/slide7.xml" Id="Rdf266fec1f4646af" /><Relationship Type="http://schemas.openxmlformats.org/officeDocument/2006/relationships/slide" Target="/ppt/slides/slide8.xml" Id="R6ac2741be7eb4b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a526d09934b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bfb637ae243f6" /><Relationship Type="http://schemas.openxmlformats.org/officeDocument/2006/relationships/notesMaster" Target="/ppt/notesMasters/notesMaster1.xml" Id="Rab4159dc1466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bb12e573424a22" /><Relationship Type="http://schemas.openxmlformats.org/officeDocument/2006/relationships/notesMaster" Target="/ppt/notesMasters/notesMaster1.xml" Id="R46b0acdd20d84e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4cd7d692d348a3" /><Relationship Type="http://schemas.openxmlformats.org/officeDocument/2006/relationships/notesMaster" Target="/ppt/notesMasters/notesMaster1.xml" Id="Rf726bcaee31748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6114480dee4e09" /><Relationship Type="http://schemas.openxmlformats.org/officeDocument/2006/relationships/notesMaster" Target="/ppt/notesMasters/notesMaster1.xml" Id="Rbc3d22719f46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d6ab82a6bb46f8" /><Relationship Type="http://schemas.openxmlformats.org/officeDocument/2006/relationships/notesMaster" Target="/ppt/notesMasters/notesMaster1.xml" Id="Rd19cbaf6f6d94e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000f665c04a90" /><Relationship Type="http://schemas.openxmlformats.org/officeDocument/2006/relationships/notesMaster" Target="/ppt/notesMasters/notesMaster1.xml" Id="Rbd8d05cc5685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77066d0db54e55" /><Relationship Type="http://schemas.openxmlformats.org/officeDocument/2006/relationships/notesMaster" Target="/ppt/notesMasters/notesMaster1.xml" Id="Rfa6d2824f7f34f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0e39fd8b44621" /><Relationship Type="http://schemas.openxmlformats.org/officeDocument/2006/relationships/notesMaster" Target="/ppt/notesMasters/notesMaster1.xml" Id="R61e97d063ed7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Вступление: наш продукт помогает обсуждать цену городских приоритетов. Это учебная синтетическая модель, не прогноз для реальной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Транспорт, озеленение, социальная инфраструктура, безопасность и сервисы конкурируют за один бюджет. Пользователь: городской управленец, аналитик или участник образовательной симуляции.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Живая демонстрация: обзор районов → готовый пример → оценить план → найти улучшения → AI-анализ. Карта условная. Бюджет, дубликаты, конфликты и правила направлений проверяются на сервере.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data/city_data.json и backend/engine.py. D района — взвешенная сумма 10 показателей. Средний балл учитывает доли населения. Критическое значение строго ниже 40. Эффект меры умножается на (8-лаг)/8, затем добавляются синергии и применяется ограничение 0–100.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Обычный режим dataset-v1. Исходный Score 52.55768. Пример: M7 Нура, M8 Нура, M10 Нура, M12 весь город, M5 Сарыарка. Цена 95, Score 56.54307, критических значений 0. Лучшая найденная одиночная замена M5 на M3 в Нуре: цена 100, Score 57.20556. Поиск не гарантирует глобальный оптимум. Числа получены backend.engine.simulate и recommend.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Responses API, модель gpt-4o-mini проверена живым вызовом 23 сентября 2026. Структурированный JSON, проверка evidence_ids и чисел. Рекомендации выбираются только из вычисленных кандидатов. Это не доказательство истинности всех интерпретаций LLM; пользователь видит основания и ограничения. При сбое показывается явно помеченный локальный отчёт.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Дополнительные авторские события не являются частью официального датасета. Зима: C1 Алматы -15, Сарыарка -10. Рост Нуры: T2 -10, S1 -10. Шоки до решений, бюджет тот же, прирост от состояния после события. SQLite хранит общий рейтинг; сервер пересчитывает score, токен позволяет обновить свою запись. Названия команд не удостоверяют личность. Для серьёзного соревнования нужна авторизация организатора.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Запуск python serve.py → http://127.0.0.1:8520. Есть Dockerfile, compose.yaml, README и инструкция развёртывания. На момент подготовки нет публичного хостинга; контейнер не собран на этой машине из-за отсутствия Docker. Локальные 37 тестов прошли в чистом Python-окружении. GitHub Actions заблокирован биллингом аккаунта, это не результат тестов. Дальнейшее развитие: калибровка по городским данным, неопределённость эффектов, эксплуатационные расходы, авторизация команд.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7a6a3f4db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c7150550842ef" /><Relationship Type="http://schemas.openxmlformats.org/officeDocument/2006/relationships/slideLayout" Target="/ppt/slideLayouts/slideLayout1.xml" Id="R4f54a62d613d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4a62d613d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134431e4482b" /><Relationship Type="http://schemas.openxmlformats.org/officeDocument/2006/relationships/notesSlide" Target="/ppt/notesSlides/notesSlide1.xml" Id="R17032371ff2f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ae95b504c4092" /><Relationship Type="http://schemas.openxmlformats.org/officeDocument/2006/relationships/notesSlide" Target="/ppt/notesSlides/notesSlide2.xml" Id="R0ca2dd93fd57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f05589e24957" /><Relationship Type="http://schemas.openxmlformats.org/officeDocument/2006/relationships/notesSlide" Target="/ppt/notesSlides/notesSlide3.xml" Id="Rc116c8491e32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85280beab4b69" /><Relationship Type="http://schemas.openxmlformats.org/officeDocument/2006/relationships/notesSlide" Target="/ppt/notesSlides/notesSlide4.xml" Id="R168dac1db7d3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c562404f343f3" /><Relationship Type="http://schemas.openxmlformats.org/officeDocument/2006/relationships/chart" Target="/ppt/slides/charts/chart1.xml" Id="R0bf0e2f362114d8b" /><Relationship Type="http://schemas.openxmlformats.org/officeDocument/2006/relationships/notesSlide" Target="/ppt/notesSlides/notesSlide5.xml" Id="Re0cd6be9976b4f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ab142a3d4c14" /><Relationship Type="http://schemas.openxmlformats.org/officeDocument/2006/relationships/notesSlide" Target="/ppt/notesSlides/notesSlide6.xml" Id="R36d008fe2f5d43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4fb9196b442f4" /><Relationship Type="http://schemas.openxmlformats.org/officeDocument/2006/relationships/notesSlide" Target="/ppt/notesSlides/notesSlide7.xml" Id="R3580944ce4f9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41c472dd74220" /><Relationship Type="http://schemas.openxmlformats.org/officeDocument/2006/relationships/notesSlide" Target="/ppt/notesSlides/notesSlide8.xml" Id="R01ccd58dbe5f47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Astana Quality of Life Score</c:v>
          </c:tx>
          <c:spPr>
            <a:solidFill xmlns:a="http://schemas.openxmlformats.org/drawingml/2006/main">
              <a:srgbClr val="356DE5"/>
            </a:solidFill>
          </c:spPr>
          <c:cat>
            <c:strRef>
              <c:f>'Chart Data'!$A$2:$A$4</c:f>
              <c:strCache>
                <c:ptCount val="3"/>
                <c:pt idx="0">
                  <c:v>Исходный город</c:v>
                </c:pt>
                <c:pt idx="1">
                  <c:v>Готовый пример</c:v>
                </c:pt>
                <c:pt idx="2">
                  <c:v>После замены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52.55768</c:v>
                </c:pt>
                <c:pt idx="1">
                  <c:v>56.54307</c:v>
                </c:pt>
                <c:pt idx="2">
                  <c:v>57.20556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621F1-835D-428B-99D2-CFFCBC97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FC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FC8FF"/>
                </a:solidFill>
                <a:latin typeface="Arial"/>
                <a:ea typeface="Arial"/>
                <a:cs typeface="Arial"/>
              </a:rPr>
              <a:t>AI-СИМУЛЯТОР УПРАВЛЕНИЯ ГОРОДОМ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4641-8318-444F-87B9-B4C3EBB5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FC8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8FF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8618-0796-4AD7-A1D2-54E1F1D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FC8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FC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991DB-F42E-4575-A3F0-B9F46452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Аким</a:t>
            </a:r>
          </a:p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5 часов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B7ED5-F063-48AC-875A-D931879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D9E5F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9E5FA"/>
                </a:solidFill>
                <a:latin typeface="Arial"/>
                <a:ea typeface="Arial"/>
                <a:cs typeface="Arial"/>
              </a:rPr>
              <a:t>Пять решений. Один бюджет.</a:t>
            </a:r>
          </a:p>
          <a:p xmlns:a="http://schemas.openxmlformats.org/drawingml/2006/main">
            <a:pPr>
              <a:defRPr sz="2700" b="0">
                <a:solidFill>
                  <a:srgbClr val="D9E5F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D9E5FA"/>
                </a:solidFill>
                <a:latin typeface="Arial"/>
                <a:ea typeface="Arial"/>
                <a:cs typeface="Arial"/>
              </a:rPr>
              <a:t>Понятные последствия для города.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72EB5-8FFB-43E1-AB0C-9A9E71E0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8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FC8FF"/>
                </a:solidFill>
                <a:latin typeface="Arial"/>
                <a:ea typeface="Arial"/>
                <a:cs typeface="Arial"/>
              </a:rPr>
              <a:t>100 единиц бюджета  ·  5 районов  ·  2 года модели</a:t>
            </a:r>
          </a:p>
        </p:txBody>
      </p:sp>
    </p:spTree>
    <p:extLst>
      <p:ext uri="{BB962C8B-B14F-4D97-AF65-F5344CB8AC3E}">
        <p14:creationId xmlns:p14="http://schemas.microsoft.com/office/powerpoint/2010/main" val="1171102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3AEBA-9C83-4EA5-BCB7-092E220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226FC-EFEF-4E0B-AAFD-F076091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Городу нужны разные улучшения.</a:t>
            </a:r>
          </a:p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Ресурс на них — общий.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1005A-B8B7-4D48-96D8-393EDD7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97DF2-6720-4B3C-BC26-B746E73F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9B699-C46B-484D-9C35-C496C04C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Как выбрать приоритеты, если улучшение</a:t>
            </a:r>
          </a:p>
          <a:p xmlns:a="http://schemas.openxmlformats.org/drawingml/2006/main">
            <a:pPr>
              <a:defRPr sz="24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среднего результата оставляет слабый район позади?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C7C38-6640-48F6-9D94-7139E61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E979A-33CC-4B53-9845-F6D3D67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направлений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EB539-2C65-4CB5-894D-2CAE599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53560-BA08-4B99-B2EF-58B62C0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мероприятий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E417C-4CFD-4801-BA18-B8F51616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2E81B-DA14-45E4-B7FF-14AD684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00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условных единиц</a:t>
            </a:r>
          </a:p>
        </p:txBody>
      </p:sp>
    </p:spTree>
    <p:extLst>
      <p:ext uri="{BB962C8B-B14F-4D97-AF65-F5344CB8AC3E}">
        <p14:creationId xmlns:p14="http://schemas.microsoft.com/office/powerpoint/2010/main" val="1948300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AC202-11D6-4402-832B-9F8FEC81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ПОЛЬЗОВАТЕЛЬСКИЙ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023F9-83C9-4ECD-88F2-2036E36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От выбора района</a:t>
            </a:r>
          </a:p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к проверенному решению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9E029-A031-4749-9FC9-8ED47950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8E867-F1BD-4C51-AC1B-A259269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11F08-3F51-4F1A-9138-AEB10C74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BE31F-6066-4DFF-8A44-70653C9A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Изучить районы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8470E-17E0-482B-9930-709B1DB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003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Карта и десять показателей каждого района.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43DC4-FE18-427B-A479-598AF26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6909-FD90-4255-82A8-3175DDB4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Выбрать пять мер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A53B-791B-41E7-BA7A-B45A5264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Стоимость и эффект видны до добавления.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1DFB-6C29-481B-9ACC-8B80427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BC1A1-D8CF-4F29-928D-74351FFD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244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Сравнить 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1125E-5B85-4510-814C-56C853D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006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Score, риски, альтернативы и AI-разбор.</a:t>
            </a:r>
          </a:p>
        </p:txBody>
      </p:sp>
    </p:spTree>
    <p:extLst>
      <p:ext uri="{BB962C8B-B14F-4D97-AF65-F5344CB8AC3E}">
        <p14:creationId xmlns:p14="http://schemas.microsoft.com/office/powerpoint/2010/main" val="462825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2BEF-877A-44D1-829F-9000C478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ПРОЗРАЧНАЯ 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19E03-E4A5-4A30-8500-F60F5F97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Баллы можно пересчитать</a:t>
            </a:r>
          </a:p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независимо от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B6227-2C62-4373-871A-4A9A0BB5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BD06B-F12E-4B6A-8FE8-174934C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11612-F26D-416A-A4A0-3A5C5B0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5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70% × средний балл города</a:t>
            </a:r>
          </a:p>
          <a:p xmlns:a="http://schemas.openxmlformats.org/drawingml/2006/main">
            <a:pPr>
              <a:defRPr sz="31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+ 30% × балл слабейшего района</a:t>
            </a:r>
          </a:p>
          <a:p xmlns:a="http://schemas.openxmlformats.org/drawingml/2006/main">
            <a:pPr>
              <a:defRPr sz="31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− число критических значений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EF7A7-681D-40F1-AF4A-3E80B21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Эффекты учитывают срок реализации, синергии</a:t>
            </a:r>
          </a:p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и отрицательные последствия выбранных мер.</a:t>
            </a:r>
          </a:p>
        </p:txBody>
      </p:sp>
    </p:spTree>
    <p:extLst>
      <p:ext uri="{BB962C8B-B14F-4D97-AF65-F5344CB8AC3E}">
        <p14:creationId xmlns:p14="http://schemas.microsoft.com/office/powerpoint/2010/main" val="1281181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E4E1C-787E-4A8A-A07F-BE089DA0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ВОСПРОИЗВОДИМЫЙ ПРИМЕР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B4039-7D6B-4971-AFD9-245D183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Одна замена меняет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7DB2F-CCDE-4086-9ED5-6D505A0E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B209-5165-4CD3-A9A0-A9C0F298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228600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f0e2f362114d8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68247-5864-4A02-B7DD-96AF31D3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47925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+3,99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A180-AADE-4EE6-B1FD-A71A3381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балла даёт</a:t>
            </a:r>
          </a:p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готовый пример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3EF2-6B96-49D2-9FC3-6475120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52,56 → 56,54 → 57,21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DEA12-E717-405F-88B3-1902CA1B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95 →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EBAE2-2372-40CC-9CDE-C699BE00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бюджет после замены</a:t>
            </a:r>
          </a:p>
        </p:txBody>
      </p:sp>
    </p:spTree>
    <p:extLst>
      <p:ext uri="{BB962C8B-B14F-4D97-AF65-F5344CB8AC3E}">
        <p14:creationId xmlns:p14="http://schemas.microsoft.com/office/powerpoint/2010/main" val="528975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3720C-072A-47CA-9C5E-187378B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РОЛЬ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4AAC-F543-482A-AA80-E471A508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Каждый вывод опирается</a:t>
            </a:r>
          </a:p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на факты расчёта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B2AE-F145-4F33-B344-B2CFDAB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1C941-BD1E-46E3-941F-9A7F424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10908-6C94-4E80-A686-6E73EE9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Расчётный движок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B5187-066D-4808-A5D5-3930335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Цена, бюджет, ограничения, Score</a:t>
            </a:r>
          </a:p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и допустимые альтернативы.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63B04-2FEA-4C6D-B7DD-13BECA5B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AI-советник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EC9EB-D709-4014-BF7D-2FB993C2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Сильные стороны, компромиссы</a:t>
            </a:r>
          </a:p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и объяснение рекомендаций.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A2BE4-707B-4A85-9E32-C85A7707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В интерфейсе можно раскрыть основания каждого вывода.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6AC1D-3610-4AAB-9E09-943F600F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Без API: расчёт работает, резервный отчёт обозначен явно.</a:t>
            </a:r>
          </a:p>
        </p:txBody>
      </p:sp>
    </p:spTree>
    <p:extLst>
      <p:ext uri="{BB962C8B-B14F-4D97-AF65-F5344CB8AC3E}">
        <p14:creationId xmlns:p14="http://schemas.microsoft.com/office/powerpoint/2010/main" val="174653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AD307-10C5-457D-9801-5A1F7BB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УЧЕБНЫЕ ЭКСПЕРИМЕНТЫ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5659C-79E3-4D54-B09B-DD6196B8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Проверяем устойчивость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961E2-110B-4684-8AAE-2D1DCAE4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84E73-E8DB-4FFB-BF67-16CFA8E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6F98C-84FD-4070-989A-9829E277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Суровая зима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2AE4E-E0F6-4B6B-A8D0-C76B20DF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Снижается надёжность ЖКХ.</a:t>
            </a:r>
          </a:p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Что перераспределить в плане?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B7310-54EC-4630-B4BE-1651BFE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Рост нового района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18AD4-8B26-4184-B9F0-5E5762DF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500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Нагрузка на транспорт и школы.</a:t>
            </a:r>
          </a:p>
          <a:p xmlns:a="http://schemas.openxmlformats.org/drawingml/2006/main">
            <a:pPr>
              <a:defRPr sz="217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Как защитить уязвимый район?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193DB-63BB-4B8C-95ED-9E107BC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Общий рейтинг команд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F39FA-8BFE-49FC-AEE0-CBBD0C6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Одинаковые события и правила сравниваются отдельно.</a:t>
            </a:r>
          </a:p>
          <a:p xmlns:a="http://schemas.openxmlformats.org/drawingml/2006/main">
            <a:pPr>
              <a:defRPr sz="1875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Отправленный балл всегда пересчитывает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597724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FB1C-6F01-4E63-A02B-C6C65CAE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ДЕМОНСТРАЦИЯ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380FD-CAFF-473F-84B4-29671F3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85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Попробуйте изменить</a:t>
            </a:r>
          </a:p>
          <a:p xmlns:a="http://schemas.openxmlformats.org/drawingml/2006/main">
            <a:pPr>
              <a:defRPr sz="3450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одно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452CA-0B0C-463F-B08F-FB672666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3-MUSKETEERS  /  HACKALEM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F1CE0-371D-4CE2-8E80-B4ABB20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F9A1-DED3-43BC-8236-EDD587F9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Работает сегодня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2A837-99F2-4418-BA9A-4757CA6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Пять решений и контроль бюджета</a:t>
            </a:r>
          </a:p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Сравнение сценариев и живой AI</a:t>
            </a:r>
          </a:p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Городские события и рейтинг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8CFAB-1816-4C0F-9A9E-61723BE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56D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56DE5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D0E3E-69C7-43AC-9AD8-06CFD1B9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5000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Калибровка на городских данных</a:t>
            </a:r>
          </a:p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Учёт неопределённости и расходов</a:t>
            </a:r>
          </a:p>
          <a:p xmlns:a="http://schemas.openxmlformats.org/drawingml/2006/main">
            <a:pPr>
              <a:defRPr sz="2025" b="0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C49"/>
                </a:solidFill>
                <a:latin typeface="Arial"/>
                <a:ea typeface="Arial"/>
                <a:cs typeface="Arial"/>
              </a:rPr>
              <a:t>Авторизация команд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C128D-FBCF-4554-BC05-DD3F5904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C4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C49"/>
                </a:solidFill>
                <a:latin typeface="Arial"/>
                <a:ea typeface="Arial"/>
                <a:cs typeface="Arial"/>
              </a:rPr>
              <a:t>python serve.py   →   localhost:8520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2AFA6-3203-4711-99C6-1B784C3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58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58D"/>
                </a:solidFill>
                <a:latin typeface="Arial"/>
                <a:ea typeface="Arial"/>
                <a:cs typeface="Arial"/>
              </a:rPr>
              <a:t>Синтетическая учебная модель. Публичный хостинг ещё не подключён.</a:t>
            </a:r>
          </a:p>
        </p:txBody>
      </p:sp>
    </p:spTree>
    <p:extLst>
      <p:ext uri="{BB962C8B-B14F-4D97-AF65-F5344CB8AC3E}">
        <p14:creationId xmlns:p14="http://schemas.microsoft.com/office/powerpoint/2010/main" val="41864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2026-09-23T11:28:09.5000000Z</dcterms:created>
  <dcterms:modified xsi:type="dcterms:W3CDTF">2026-09-23T11:28:09.5000000Z</dcterms:modified>
</coreProperties>
</file>